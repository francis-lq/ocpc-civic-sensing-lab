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5" autoAdjust="0"/>
    <p:restoredTop sz="82689" autoAdjust="0"/>
  </p:normalViewPr>
  <p:slideViewPr>
    <p:cSldViewPr snapToGrid="0">
      <p:cViewPr>
        <p:scale>
          <a:sx n="89" d="100"/>
          <a:sy n="89" d="100"/>
        </p:scale>
        <p:origin x="2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这一页先把项目从普通 STEAM 课程中区分出来：它不是只教工具，而是把真实场景、公共议题、数据证据、艺术表达和开放档案连接起来。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各位朋友，大家好！我是共感城市实验室的代表。今天很荣幸能向大家介绍我们这个独特的项目。我们的共感城市实验室，是面向青少年与大学生的「艺术教育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科学传播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开放公民项目公地」素养教育项目。我们用开源硬件、环境数据等，把公共议题转化为开放项目。还会和各类机构合作，开发展教项目和青年公民科学行动。希望大家能和我们一起，为青少年成长和公共议题解决贡献力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这里不做市场规模夸张判断，只说明已有文献和方案中反复出现的需求变化：真实问题、项目制学习、证据链、公共展示和长期沉淀。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目前，</a:t>
            </a:r>
            <a:r>
              <a:rPr lang="en-US" altLang="zh-CN">
                <a:ea typeface="宋体" panose="02010600030101010101" pitchFamily="2" charset="-122"/>
              </a:rPr>
              <a:t>STEAM </a:t>
            </a:r>
            <a:r>
              <a:rPr lang="zh-CN" altLang="en-US">
                <a:ea typeface="宋体" panose="02010600030101010101" pitchFamily="2" charset="-122"/>
              </a:rPr>
              <a:t>教育正发生着重大转变，从以往的「技能拼盘」模式，迈向「艺术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科学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社会议题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×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公共参与」的全新模式，这体现了教育理念的升级。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从机构端来讲，它们不再满足于一次性的教育活动，而是渴望拥有可持续、可传播、可共创的公共教育项目，这样的项目能为机构带来更长期的价值。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对于青少年而言，他们需要真实的项目经历，这些经历要能被看见、能被复盘，还能形成作品与成长证据，这对他们的成长至关重要。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此外，博物馆、科技馆、学校和社区空间有着独特的作用，它们可以成为青年公共议题项目的展示、采样、讨论和再利用节点，为青年项目的开展提供了理想的场所。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的核心概念，旨在让青年借助艺术和科学的力量，观察真实世界，将身边公共议题转化为开放公民项目。其学习路径清晰明确，从观察现象，到提出问题，再到收集数据、制作原型、进行展览，最后实现项目的公开发布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每个项目都聚焦于具体议题，如空气、声音、水体等，这些都是与人们生活息息相关的公共问题。并且，每个项目结束后都会留下丰富的成果，包括问题陈述、采样协议、数据样本等。这不仅为后续项目提供了宝贵的参考，也促进了知识的积累和共享，推动项目的可持续发展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对机构来说，合作价值不止是办一场活动，而是共同生成可复用的教育内容、公共档案、展示素材和影响力证据。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与机构合作具有显著优势。学校能提供持续学习场景，像校本课程、综合实践等，学生可在跨学科项目中深入学习，学生社群也利于交流互动，为知识的积累和创新提供良好环境。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博物馆、科技馆、美术馆则提供公共展示界面，可将学生作品升级为展教项目，让公众更好地理解和参与，提升作品的影响力和价值。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公园、湿地、社区和公共空间能提供真实议题现场，使数据采集和地方叙事能在具体地点开展，让学生接触到更真实的问题。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而且，机构不只是场地提供者，还能成为</a:t>
            </a:r>
            <a:r>
              <a:rPr lang="en-US" altLang="zh-CN">
                <a:ea typeface="宋体" panose="02010600030101010101" pitchFamily="2" charset="-122"/>
              </a:rPr>
              <a:t>OCPC</a:t>
            </a:r>
            <a:r>
              <a:rPr lang="zh-CN" altLang="en-US">
                <a:ea typeface="宋体" panose="02010600030101010101" pitchFamily="2" charset="-122"/>
              </a:rPr>
              <a:t>项目公地的线下节点和长期维护伙伴，为项目的持续发展提供有力支持。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的产品体系丰富多样，涵盖多个方面。跨界策展产品通过城市呼吸、共生校园等主题巡展和共创展，让公众以艺术与科学结合的视角感受城市。训练营与课程针对不同群体，如青少年、大学生和教师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馆员，提供提升相关能力的学习机会。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黑客松与开放采样日围绕机构真实赛题，产出可展示、归档和继续孵化的项目，推动项目创新发展。开源社区与项目库沉淀各类资源，为后续项目开展提供有力支持。生态研学产品则在校园、街区等公共空间进行数据采集、艺术表达和公共讨论，让参与者深入了解公共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源方案建议第一个 MVP 从校园微气候开始，因为它比水质、夜间生态或复杂公共空间议题更容易控制风险，也更适合快速验证课程和机构合作。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的旗舰试点项目是校园微气候观测，聚焦于探究校园里哪些空间更热、更闷以及更适合停留。学生们会运用温湿度、光照、地表材质记录和主观体感评分等方式，制作热舒适路线、数据地图或数据灯箱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该项目非常适合学校和场馆开展试点，因其安全边界清晰，议题低敏感，材料也可控，成果还容易展示。结课产出丰富，涵盖数据表、点位地图、建议书、展签、项目页和</a:t>
            </a:r>
            <a:r>
              <a:rPr lang="en-US" altLang="zh-CN">
                <a:ea typeface="宋体" panose="02010600030101010101" pitchFamily="2" charset="-122"/>
              </a:rPr>
              <a:t>OCPC</a:t>
            </a:r>
            <a:r>
              <a:rPr lang="zh-CN" altLang="en-US">
                <a:ea typeface="宋体" panose="02010600030101010101" pitchFamily="2" charset="-122"/>
              </a:rPr>
              <a:t>最小发布包，这些产出不仅是学生学习成果的体现，也为后续研究提供了有价值的参考。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共感城市实验室的学习与公共价值模型包含五个关键环节。首先是观察，引导学生从校园、展馆、街区或自然空间中去发现值得研究的公共问题，这是开启项目的第一步，能培养学生敏锐的洞察力。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接着是证据环节，学生借助传感器、访谈、行为观察、地图和影像等手段，建立基础证据链，为后续研究提供坚实支撑。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然后是原型环节，将收集的数据和发现的问题转化为硬件、图像、声音、互动页面、物件剧场或展览脚本等形式，实现从理论到实践的跨越。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展示环节则是面向公众解释问题的发生、证据的产生以及作品的回应，增强公众对项目的理解和参与。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最后是发布环节，把成果整理成可复用的项目档案，让后续的学生、教师、馆员或社区能够继续使用，实现知识的传承和延续。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这一页是合作中的信任层。商业交付由法律主体负责，开放项目和贡献记录进入 OCPC，二者边界要清楚。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en-US" altLang="en-US"/>
              <a:t>OCPC</a:t>
            </a:r>
            <a:r>
              <a:rPr lang="zh-CN" altLang="en-US">
                <a:ea typeface="宋体" panose="02010600030101010101" pitchFamily="2" charset="-122"/>
              </a:rPr>
              <a:t>，即开放公民项目公地，是一种项目资产与开放治理机制，并非替代法律主体的公司或机构。每次课程、展览、黑客松或研学结束后，我们不应只留下活动照片，更要沉淀可复用的公共知识。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标准项目档案涵盖项目简介、公共议题背景、科学问题等多方面内容，这些档案是活动成果的宝贵结晶。机构合作成果可进入公开项目库，实现资源共享。不过，在处理过程中，要对未成年人信息、敏感位置、个人轨迹和影像授权保持谨慎，确保信息安全和合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共感城市实验室的合作模式丰富多样，与不同类型的伙伴携手，能发挥各自优势，推动项目发展。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学校可参与校本课程、综合实践等项目，形成课程包与项目档案，为学生提供实践机会。博物馆与科技馆开展展教合一项目、公众开放日等，提升学生作品的公众影响力。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公园、湿地与社区提供生态研学、开放采样日等活动，让学生在真实场景中探索。企业支持青少年科学教育等，但不干预数据结论，保障项目的科学性。公共部门与公益机构共创低敏感、适龄的公民科学和公共文化项目，促进社会发展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这一页需要直接回应机构最关心的问题：安全、合规、未成年人、数据和声誉风险。具体法律手续仍需按运营地和合作机构要求进一步核查。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在共感城市实验室的活动中，安全、伦理与未成年人保护至关重要。活动前需做好充分准备，进行风险评估、获取监护人同意、预查路线、购买保险、确定带队比例、制定天气预案和应急流程，确保活动安全有序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硬件活动优先采用低压设备，严格控制焊接、切割等高风险操作，同时明确实验室规则和防护要求，保障学生操作安全。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数据处理要遵循最小必要、去标识化、监护人授权和敏感数据不公开原则，保护学生隐私。对于学生贡献，默认尊重署名、匿名、撤回署名和退出权，商业使用需明确授权边界。企业、机构或项目方不得占有学生贡献，也不能用赞助影响数据解释和公共结论，确保活动的公正性和学生权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共感城市实验室制定了</a:t>
            </a:r>
            <a:r>
              <a:rPr lang="en-US" altLang="zh-CN">
                <a:ea typeface="宋体" panose="02010600030101010101" pitchFamily="2" charset="-122"/>
              </a:rPr>
              <a:t>12</a:t>
            </a:r>
            <a:r>
              <a:rPr lang="zh-CN" altLang="en-US">
                <a:ea typeface="宋体" panose="02010600030101010101" pitchFamily="2" charset="-122"/>
              </a:rPr>
              <a:t>个月的</a:t>
            </a:r>
            <a:r>
              <a:rPr lang="en-US" altLang="zh-CN">
                <a:ea typeface="宋体" panose="02010600030101010101" pitchFamily="2" charset="-122"/>
              </a:rPr>
              <a:t>MVP</a:t>
            </a:r>
            <a:r>
              <a:rPr lang="zh-CN" altLang="en-US">
                <a:ea typeface="宋体" panose="02010600030101010101" pitchFamily="2" charset="-122"/>
              </a:rPr>
              <a:t>路线图，分三个阶段推进项目。</a:t>
            </a:r>
            <a:r>
              <a:rPr lang="en-US" altLang="zh-CN">
                <a:ea typeface="宋体" panose="02010600030101010101" pitchFamily="2" charset="-122"/>
              </a:rPr>
              <a:t>0 - 3</a:t>
            </a:r>
            <a:r>
              <a:rPr lang="zh-CN" altLang="en-US">
                <a:ea typeface="宋体" panose="02010600030101010101" pitchFamily="2" charset="-122"/>
              </a:rPr>
              <a:t>个月是验证期，此阶段聚焦于验证项目的可行性，如同打地基，要确保后续工作建立在坚实基础上。</a:t>
            </a:r>
            <a:r>
              <a:rPr lang="en-US" altLang="zh-CN">
                <a:ea typeface="宋体" panose="02010600030101010101" pitchFamily="2" charset="-122"/>
              </a:rPr>
              <a:t>3 - 6</a:t>
            </a:r>
            <a:r>
              <a:rPr lang="zh-CN" altLang="en-US">
                <a:ea typeface="宋体" panose="02010600030101010101" pitchFamily="2" charset="-122"/>
              </a:rPr>
              <a:t>个月进入产品化期，将前期验证可行的内容转化为具体产品，使其具备可操作性和实用性。</a:t>
            </a:r>
            <a:r>
              <a:rPr lang="en-US" altLang="zh-CN">
                <a:ea typeface="宋体" panose="02010600030101010101" pitchFamily="2" charset="-122"/>
              </a:rPr>
              <a:t>6 - 12</a:t>
            </a:r>
            <a:r>
              <a:rPr lang="zh-CN" altLang="en-US">
                <a:ea typeface="宋体" panose="02010600030101010101" pitchFamily="2" charset="-122"/>
              </a:rPr>
              <a:t>个月为规模化试点阶段，把产品推广到更大范围进行实践检验。</a:t>
            </a:r>
            <a:r>
              <a:rPr lang="en-US" altLang="zh-CN">
                <a:ea typeface="宋体" panose="02010600030101010101" pitchFamily="2" charset="-122"/>
              </a:rPr>
              <a:t>
</a:t>
            </a:r>
            <a:r>
              <a:rPr lang="zh-CN" altLang="en-US">
                <a:ea typeface="宋体" panose="02010600030101010101" pitchFamily="2" charset="-122"/>
              </a:rPr>
              <a:t>同时，还需关注验证指标。验证指标是衡量项目各阶段成果的关键，能帮助我们及时发现问题、调整策略，确保项目沿着正确方向前进，最终实现项目的目标。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/>
        </p:nvSpPr>
        <p:spPr>
          <a:xfrm>
            <a:off x="685800" y="9144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最后的行动邀请要具体。理想的下一步不是泛泛“保持联系”，而是锁定一个试点主题、一个场景、一个联系人、一次内测和一套可归档成果。</a:t>
            </a:r>
            <a:endParaRPr lang="zh-CN" sz="120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我们诚挚地发出合作邀请。一是提供试点场景，希望能有校园、展厅等空间，联合测试低风险主题项目，开启探索之旅。二是成为共创伙伴，共同开发课程、展览等活动，为青年成长助力。三是担当导师与顾问，在科学、硬件等多方面给予支持，为项目注入专业力量。四是提供设备与场地，包括传感器等设备和展示空间等，保障项目顺利开展。五是给予资助与传播，助力青年公共议题项目进入项目库并广泛传播，让更多人关注。期待与各方携手合作，共创美好未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 — 共感城市实验室 / Civic Sensing Lab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中文定位：面向青少年与大学生的「艺术教育 × 科学传播 × 开放公民项目公地」素养教育项目。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English line: Sense the city. Shape the commons.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用开源硬件、环境数据、媒介艺术和公共展览，把真实世界的公共议题转化为可学习、可展示、可复用、可持续维护的开放项目。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面向学校、博物馆、科技馆、美术馆、公园、社区与公共文化机构，共同开发可落地的展教项目和青年公民科学行动。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/ 12</a:t>
            </a:r>
            <a:endParaRPr lang="zh-CN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2 — 机会变化 / The Opportunity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STEAM 教育正在从「技能拼盘」走向「艺术 × 科学 × 社会议题 × 公共参与」。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机构端需要可持续、可传播、可共创的公共教育项目，而不只是一次性活动。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青少年需要能被看见、能被复盘、能形成作品与成长证据的真实项目经历。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博物馆、科技馆、学校和社区空间，可以成为青年公共议题项目的展示、采样、讨论和再利用节点。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/ 12</a:t>
            </a:r>
            <a:endParaRPr lang="zh-CN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3 — 核心概念 / Core Concept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一句话：让青年用艺术和科学观察真实世界，把身边公共议题变成开放公民项目。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Learning path: Observe -&gt; Question -&gt; Data -&gt; Prototype -&gt; Exhibition -&gt; Commons Release.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每个项目都围绕一个具体议题，例如空气、声音、水体、热岛、生物多样性、公共空间或地方记忆。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每个项目最终留下问题陈述、采样协议、数据样本、硬件 BOM、代码/伪代码、艺术表达、展陈文档、风险说明、贡献记录和复用指南。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/ 12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4 — 为什么适合机构合作 / Why Institutions Matter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学校提供持续学习场景：校本课程、综合实践、跨学科项目和学生社群。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博物馆、科技馆、美术馆提供公共展示界面：把学生作品升级为可被公众理解和参与的展教项目。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公园、湿地、社区和公共空间提供真实议题现场：让数据采集和地方叙事发生在具体地点。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机构不仅是场地提供方，也可以成为 OCPC 项目公地的线下节点和长期维护伙伴。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/ 12</a:t>
            </a:r>
            <a:endParaRPr lang="zh-CN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5 — 产品体系 / Product System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跨界策展产品：城市呼吸、共生校园、看不见的河流、夜间生态与公共照明等主题巡展和共创展。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训练营与课程：青少年城市感知周末营、大学生公共议题开源原型营、教师/馆员 OCPC 项目导师营。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黑客松与开放采样日：围绕机构真实赛题，生成可展示、可归档、可继续孵化的项目。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开源社区与项目库：沉淀课程包、硬件设计、代码、采样协议、展览脚本、评价量表和风险清单。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生态研学产品：校园、街区、公园、湿地、河流和社区公共空间中的数据采集、艺术表达和公共讨论。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/ 12</a:t>
            </a:r>
            <a:endParaRPr 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6 — 旗舰试点 / Campus Microclimate Sensing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中文主题：校园微气候观测：哪些空间更热、更闷、更适合停留？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English pilot: Campus Microclimate Sensing.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学生使用温湿度、光照、地表材质记录和主观体感评分，制作热舒适路线、数据地图或数据灯箱。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适合学校和场馆试点：安全边界清晰、议题低敏感、材料可控、成果容易展示。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结课产出包括数据表、点位地图、建议书、展签、项目页和 OCPC 最小发布包。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/ 12</a:t>
            </a:r>
            <a:endParaRPr lang="zh-CN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7 — 学习与公共价值模型 / Learning + Public Value Model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观察：从校园、展馆、街区或自然空间中发现可研究的公共问题。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证据：用传感器、访谈、行为观察、地图和影像建立基础证据链。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原型：把数据和问题转化为硬件、图像、声音、互动页面、物件剧场或展览脚本。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展示：面向公众解释问题如何发生、证据如何产生、作品如何回应。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发布：把成果整理成可复用的项目档案，让下一批学生、教师、馆员或社区继续使用。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/ 12</a:t>
            </a:r>
            <a:endParaRPr lang="zh-CN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8 — OCPC 公地沉淀 / What Remains After Each Activity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OCPC / Open Civic Project Commons 是项目资产与开放治理机制，不是替代法律主体的公司或机构。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每次课程、展览、黑客松或研学结束后，都要留下可复用公共知识，而不只留下活动照片。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标准项目档案包括：项目简介、公共议题背景、科学问题、采样方法、BOM、电路图、代码、艺术表达、教学包、安全与伦理说明、许可、贡献者名单、复用指南、版本日志和维护人。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机构合作成果可以进入公开项目库，同时对未成年人信息、敏感位置、个人轨迹和影像授权保持谨慎处理。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/ 12</a:t>
            </a:r>
            <a:endParaRPr lang="zh-CN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9 — 合作模式 / Partner Collaboration Models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学校 / Schools：校本课程、综合实践、校园微气候或共生校园项目，形成课程包与项目档案。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博物馆与科技馆 / Museums &amp; Science Centers：展教合一项目、公众开放日、巡展、馆校共创和教师馆员培训。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公园、湿地与社区 / Parks &amp; Communities：生态研学、开放采样日、地方记忆地图和公共空间观察。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 CSR/ESG / Corporate Sponsors：支持青少年科学教育、低碳校园行动或公共展示，但不干预数据结论。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公共部门与公益机构 / Public-interest Partners：共创低敏感、适龄、证据充分的公民科学和公共文化项目。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12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10 — 安全、伦理与未成年人保护 / Safety, Ethics, and Minor Protection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活动前设置风险评估、监护人同意、路线预查、保险、带队比例、天气预案和应急流程。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硬件活动优先使用低压设备，控制焊接、切割等高风险操作，提供明确实验室规则和防护要求。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数据处理遵循最小必要、去标识化、监护人授权和敏感数据不公开原则。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学生贡献默认尊重署名、匿名、撤回署名和退出权；商业使用需要清晰授权边界。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企业、机构或项目方不得占有学生贡献，也不得用赞助影响数据解释和公共结论。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12</a:t>
            </a:r>
            <a:endParaRPr lang="zh-CN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11 — 12 个月 MVP 路线图 / 12-Month MVP Roadmap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0-3 个月：验证期 / Validation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3-6 个月：产品化期 / Productization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6-12 个月：规模化试点 / Pilot Scaling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验证指标 / What to measure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12</a:t>
            </a:r>
            <a:endParaRPr lang="zh-CN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207A78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736600" y="533400"/>
            <a:ext cx="10668000" cy="79248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Slide 12 — 合作邀请 / Partnership Ask</a:t>
            </a:r>
            <a:endParaRPr lang="zh-CN" sz="2800"/>
          </a:p>
        </p:txBody>
      </p:sp>
      <p:sp>
        <p:nvSpPr>
          <p:cNvPr id="4" name="Rule"/>
          <p:cNvSpPr/>
          <p:nvPr/>
        </p:nvSpPr>
        <p:spPr>
          <a:xfrm>
            <a:off x="762000" y="1447800"/>
            <a:ext cx="10668000" cy="25400"/>
          </a:xfrm>
          <a:prstGeom prst="rect">
            <a:avLst/>
          </a:prstGeom>
          <a:solidFill>
            <a:srgbClr val="CDD8D2"/>
          </a:solidFill>
          <a:ln>
            <a:noFill/>
          </a:ln>
        </p:spPr>
      </p:sp>
      <p:sp>
        <p:nvSpPr>
          <p:cNvPr id="5" name="Body"/>
          <p:cNvSpPr txBox="1"/>
          <p:nvPr/>
        </p:nvSpPr>
        <p:spPr>
          <a:xfrm>
            <a:off x="990600" y="1803400"/>
            <a:ext cx="10160000" cy="381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试点场景 / Pilot site：提供一个校园、展厅、科技馆、公园、湿地或社区空间，联合测试 1 个低风险主题项目。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共创伙伴 / Co-development partner：共同开发课程、展览、研学、教师馆员培训或公共开放日。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导师与顾问 / Mentors and advisors：提供科学、硬件、数据、策展、教育、安全伦理或公共议题支持。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设备与场地 / Venue and equipment：支持传感器、基础制作设备、展示空间、采样路线或公开展示机会。</a:t>
            </a:r>
            <a:endParaRPr lang="zh-CN" sz="1950"/>
          </a:p>
          <a:p>
            <a:pPr marL="0" indent="0" algn="l">
              <a:defRPr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950" b="0">
                <a:solidFill>
                  <a:srgbClr val="232B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资助与传播 / Sponsorship and visibility：支持青年公共议题项目进入 OCPC 项目库，并形成可公开传播的项目成果。</a:t>
            </a:r>
            <a:endParaRPr lang="zh-CN" sz="1950"/>
          </a:p>
        </p:txBody>
      </p:sp>
      <p:sp>
        <p:nvSpPr>
          <p:cNvPr id="6" name="Footer"/>
          <p:cNvSpPr txBox="1"/>
          <p:nvPr/>
        </p:nvSpPr>
        <p:spPr>
          <a:xfrm>
            <a:off x="736600" y="63246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l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共感城市实验室 / Civic Sensing Lab</a:t>
            </a:r>
            <a:endParaRPr lang="zh-CN" sz="900"/>
          </a:p>
        </p:txBody>
      </p:sp>
      <p:sp>
        <p:nvSpPr>
          <p:cNvPr id="7" name="Slide Number"/>
          <p:cNvSpPr txBox="1"/>
          <p:nvPr/>
        </p:nvSpPr>
        <p:spPr>
          <a:xfrm>
            <a:off x="10668000" y="63246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 algn="r">
              <a:defRPr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900" b="0">
                <a:solidFill>
                  <a:srgbClr val="566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12</a:t>
            </a:r>
            <a:endParaRPr lang="zh-CN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3585</Words>
  <Application>Microsoft Office PowerPoint</Application>
  <PresentationFormat>宽屏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宋体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共感城市实验室 / Civic Sensing Lab</dc:title>
  <dc:creator>Codex</dc:creator>
  <cp:lastModifiedBy>Lucas Zhang</cp:lastModifiedBy>
  <cp:revision>2</cp:revision>
  <dcterms:created xsi:type="dcterms:W3CDTF">2026-04-28T12:32:24Z</dcterms:created>
  <dcterms:modified xsi:type="dcterms:W3CDTF">2026-04-29T13:00:05Z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57D5469BA3EE42E7BC044D18AB4A692F_13</vt:lpwstr>
  </property>
  <property fmtid="{D5CDD505-2E9C-101B-9397-08002B2CF9AE}" pid="3" name="KSOProductBuildVer">
    <vt:lpwstr>2052-12.1.0.25865</vt:lpwstr>
  </property>
</Properties>
</file>